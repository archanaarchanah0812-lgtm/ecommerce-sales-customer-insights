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91195b4-2cda-f965-c6af-cb699ea253de}">
          <p14:sldIdLst>
            <p14:sldId id="256"/>
            <p14:sldId id="257"/>
            <p14:sldId id="258"/>
            <p14:sldId id="259"/>
            <p14:sldId id="260"/>
          </p14:sldIdLst>
        </p14:section>
        <p14:section name="Analysis" id="{99856e0b-04e9-7969-297a-eb2e06a70f75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Dashboard and actions" id="{adf41ad1-0f8c-41d1-a528-41043cda03c8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238"/>
                </a:solidFill>
                <a:latin typeface="+mn-lt"/>
              </a:rPr>
              <a:t>Top 3 categories by revenue (R$ million)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(R$ million)</c:v>
                </c:pt>
              </c:strCache>
            </c:strRef>
          </c:tx>
          <c:spPr>
            <a:solidFill>
              <a:srgbClr val="2F6FD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health_beauty</c:v>
                  </c:pt>
                  <c:pt idx="1">
                    <c:v>watches_gifts</c:v>
                  </c:pt>
                  <c:pt idx="2">
                    <c:v>bed_bath_table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1.23</c:v>
                </c:pt>
                <c:pt idx="1">
                  <c:v>1.17</c:v>
                </c:pt>
                <c:pt idx="2">
                  <c:v>1.02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2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5"/>
          <c:min val="0"/>
        </c:scaling>
        <c:delete val="0"/>
        <c:axPos val="b"/>
        <c:majorGridlines>
          <c:spPr>
            <a:ln w="6350" cap="flat">
              <a:solidFill>
                <a:srgbClr val="E3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2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238"/>
                </a:solidFill>
                <a:latin typeface="+mn-lt"/>
              </a:rPr>
              <a:t>Customers by number of orders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8C7E0"/>
              </a:solidFill>
              <a:effectLst/>
            </c:spPr>
          </c:dPt>
          <c:dPt>
            <c:idx val="1"/>
            <c:bubble3D val="0"/>
            <c:spPr>
              <a:solidFill>
                <a:srgbClr val="2F6FD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B2238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B2238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One-time buyers</c:v>
                </c:pt>
                <c:pt idx="1">
                  <c:v>Repeat buyers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90557</c:v>
                </c:pt>
                <c:pt idx="1">
                  <c:v>2801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A52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238"/>
                </a:solidFill>
                <a:latin typeface="+mn-lt"/>
              </a:rPr>
              <a:t>Share of payment value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payment value (%)</c:v>
                </c:pt>
              </c:strCache>
            </c:strRef>
          </c:tx>
          <c:spPr>
            <a:solidFill>
              <a:srgbClr val="1B3A8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credit_card</c:v>
                  </c:pt>
                  <c:pt idx="1">
                    <c:v>boleto</c:v>
                  </c:pt>
                  <c:pt idx="2">
                    <c:v>voucher</c:v>
                  </c:pt>
                  <c:pt idx="3">
                    <c:v>debit_card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78.34</c:v>
                </c:pt>
                <c:pt idx="1">
                  <c:v>17.92</c:v>
                </c:pt>
                <c:pt idx="2">
                  <c:v>2.37</c:v>
                </c:pt>
                <c:pt idx="3">
                  <c:v>1.36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2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3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2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238"/>
                </a:solidFill>
                <a:latin typeface="+mn-lt"/>
              </a:rPr>
              <a:t>Average review score by delivery time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review score</c:v>
                </c:pt>
              </c:strCache>
            </c:strRef>
          </c:tx>
          <c:spPr>
            <a:solidFill>
              <a:srgbClr val="2F6FD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0-7 days</c:v>
                  </c:pt>
                  <c:pt idx="1">
                    <c:v>8-14 days</c:v>
                  </c:pt>
                  <c:pt idx="2">
                    <c:v>15-21 days</c:v>
                  </c:pt>
                  <c:pt idx="3">
                    <c:v>22+ days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4.41</c:v>
                </c:pt>
                <c:pt idx="1">
                  <c:v>4.3</c:v>
                </c:pt>
                <c:pt idx="2">
                  <c:v>4.12</c:v>
                </c:pt>
                <c:pt idx="3">
                  <c:v>3.06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2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3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2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238"/>
                </a:solidFill>
                <a:latin typeface="+mn-lt"/>
              </a:rPr>
              <a:t>Top 3 states by revenue (R$ million)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(R$ million)</c:v>
                </c:pt>
              </c:strCache>
            </c:strRef>
          </c:tx>
          <c:spPr>
            <a:solidFill>
              <a:srgbClr val="1B3A8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</c:v>
                  </c:pt>
                  <c:pt idx="1">
                    <c:v>RJ</c:v>
                  </c:pt>
                  <c:pt idx="2">
                    <c:v>MG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5.07</c:v>
                </c:pt>
                <c:pt idx="1">
                  <c:v>1.76</c:v>
                </c:pt>
                <c:pt idx="2">
                  <c:v>1.55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2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2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full analytics workflow from raw e-commerce data to business insights.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questions guide the whole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data, the steps and the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each term in simple words before showing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steps from raw files to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is one SQL file in the GitHub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headline numbers first, then the four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Black Friday may explain the peak, but the data does not prove the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Repeat rate uses customer_unique_id, because customer_id changes with every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 time is linked to ratings. This shows association, not proof of cause.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 alone brings about 38% of revenue (R$5.07M of R$13.22M, calculated).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each chart and say which question it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delivery time connects to customer ratings.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links a finding to a decision a real business would make.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limits; it builds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3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E-Commerce Sales and Customer Insights  |  Archana 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Sales and Customer Insights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490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SQL and Power BI analysis of 96,478 delivered orders from a Brazilian online marketplace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31520" y="640080"/>
            <a:ext cx="822960" cy="822960"/>
          </a:xfrm>
          <a:prstGeom prst="ellipse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960120"/>
            <a:ext cx="1463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88136" y="777240"/>
            <a:ext cx="14630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07592" y="594360"/>
            <a:ext cx="14630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82880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B2FF"/>
                </a:solidFill>
              </a:rPr>
              <a:t>DATA ANALYTICS PROJECT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Archana H  |  Data Analytics  |  MySQL · Power BI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revenue come from, and where does it leak?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3502152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" y="1920240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Which products and categories drive revenue?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017520"/>
            <a:ext cx="3044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Top sellers, revenue share and customer ratings by category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25112" y="1737360"/>
            <a:ext cx="3502152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53712" y="1920240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Who buys, and do they come back?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553712" y="3017520"/>
            <a:ext cx="3044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New vs repeat buyers, order value and payment habits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53712" y="4023360"/>
            <a:ext cx="457200" cy="457200"/>
          </a:xfrm>
          <a:prstGeom prst="ellipse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53712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01584" y="1737360"/>
            <a:ext cx="3502152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330184" y="1920240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How does delivery affect satisfaction?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330184" y="3017520"/>
            <a:ext cx="3044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Delivery time, review scores and regional sales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330184" y="4023360"/>
            <a:ext cx="457200" cy="457200"/>
          </a:xfrm>
          <a:prstGeom prst="ellipse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30184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268"/>
                </a:solidFill>
              </a:rPr>
              <a:t>Built for store owners, marketing teams and operations teams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is about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2152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" y="16459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The data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03120"/>
            <a:ext cx="3044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Olist, a Brazilian online marketplace. 9 related tables: orders, items, payments, reviews, customers, products, sellers. 99,441 orders, Sep 2016 to Oct 2018.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325112" y="1463040"/>
            <a:ext cx="3502152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553712" y="16459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What I did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53712" y="2103120"/>
            <a:ext cx="3044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Loaded the CSV files into MySQL, cleaned dates and blank values, wrote 8 SQL queries, and built a 2-page Power BI dashboard.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101584" y="1463040"/>
            <a:ext cx="3502152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330184" y="16459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What it answers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330184" y="2103120"/>
            <a:ext cx="3044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Where revenue comes from, how many customers buy again, and how delivery speed affects review ratings.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238"/>
                </a:solidFill>
              </a:rPr>
              <a:t>How the tables connect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470916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709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customers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743200" y="47091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6FDE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3474720" y="470916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74720" y="4709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orders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47091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6FDE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6400800" y="470916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0" y="4709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order_items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47091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6FDE"/>
                </a:solidFill>
              </a:rPr>
              <a:t>→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9326880" y="470916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326880" y="4709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products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268"/>
                </a:solidFill>
              </a:rPr>
              <a:t>Payments, reviews and sellers connect to orders and order_items in the same way. Analysis uses delivered orders only.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explained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215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" y="16459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Delivered orders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94560"/>
            <a:ext cx="3044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Orders with status delivered (96,478). Cancelled and unavailable orders are left out.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325112" y="1463040"/>
            <a:ext cx="350215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553712" y="16459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Revenue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53712" y="2194560"/>
            <a:ext cx="3044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Sum of product prices. Shipping cost, discounts and profit are not included.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101584" y="1463040"/>
            <a:ext cx="350215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330184" y="16459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AOV (average order value)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330184" y="2194560"/>
            <a:ext cx="3044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Total revenue ÷ number of orders = R$137.04.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350215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77240" y="39776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Repeat customer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526280"/>
            <a:ext cx="3044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A customer (customer_unique_id) with 2 or more delivered orders.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325112" y="3794760"/>
            <a:ext cx="350215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553712" y="39776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Boleto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553712" y="4526280"/>
            <a:ext cx="3044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A Brazilian bank-slip payment, similar to paying in cash.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101584" y="3794760"/>
            <a:ext cx="350215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8330184" y="39776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Review score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330184" y="4526280"/>
            <a:ext cx="3044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Customer rating from 1 (worst) to 5 (best).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built it, step by step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103120" cy="35661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Load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8892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9 CSV files loaded into MySQL (database olist_ecommerce).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88920" y="1463040"/>
            <a:ext cx="2103120" cy="35661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17520" y="1691640"/>
            <a:ext cx="457200" cy="457200"/>
          </a:xfrm>
          <a:prstGeom prst="ellipse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175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Clean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017520" y="278892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Dates converted to DATETIME, blanks set to NULL, duplicates checked.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029200" y="1463040"/>
            <a:ext cx="2103120" cy="35661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257800" y="1691640"/>
            <a:ext cx="457200" cy="457200"/>
          </a:xfrm>
          <a:prstGeom prst="ellipse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578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5780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Analyse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257800" y="278892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8 SQL queries using joins, GROUP BY, CASE WHEN and CTEs.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269480" y="1463040"/>
            <a:ext cx="2103120" cy="35661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498080" y="1691640"/>
            <a:ext cx="457200" cy="457200"/>
          </a:xfrm>
          <a:prstGeom prst="ellipse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Model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498080" y="278892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Power BI: 7 table relationships and DAX measures (Total Orders, Total Revenue, AOV, Repeat %).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9509760" y="1463040"/>
            <a:ext cx="2103120" cy="35661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738360" y="1691640"/>
            <a:ext cx="457200" cy="457200"/>
          </a:xfrm>
          <a:prstGeom prst="ellipse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7383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73836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Visualise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9738360" y="278892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2-page dashboard with KPI cards, charts and a year slicer.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238"/>
                </a:solidFill>
              </a:rPr>
              <a:t>Tools: MySQL, MySQL Workbench, Power BI Desktop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business questions answered with SQL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120640"/>
                <a:gridCol w="53035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Business question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Key result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What is the monthly revenue trend?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8"/>
                          </a:solidFill>
                        </a:rPr>
                        <a:t>Peak in Nov 2017: R$987,765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Which categories bring the most revenue?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8"/>
                          </a:solidFill>
                        </a:rPr>
                        <a:t>health_beauty leads with R$1.23M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How many customers buy again?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8"/>
                          </a:solidFill>
                        </a:rPr>
                        <a:t>3.00% (2,801 of 93,358)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Which states have the highest sales?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8"/>
                          </a:solidFill>
                        </a:rPr>
                        <a:t>SP: R$5.07M (about 38% of revenue)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How does delivery time relate to reviews?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8"/>
                          </a:solidFill>
                        </a:rPr>
                        <a:t>4.41 (0-7 days) down to 3.06 (22+ days)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Which payment methods are used most?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8"/>
                          </a:solidFill>
                        </a:rPr>
                        <a:t>Credit card: 78.34% of payment value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What are the overall KPIs?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8"/>
                          </a:solidFill>
                        </a:rPr>
                        <a:t>96,478 orders, R$13.22M, AOV R$137.04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Which categories have the lowest ratings?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8"/>
                          </a:solidFill>
                        </a:rPr>
                        <a:t>office_furniture: 3.52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at a glance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FDE"/>
                </a:solidFill>
              </a:rPr>
              <a:t>96,478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58568"/>
            <a:ext cx="2148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delivered orders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383280" y="14630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611880" y="1600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FDE"/>
                </a:solidFill>
              </a:rPr>
              <a:t>R$13.22M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2258568"/>
            <a:ext cx="2148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total revenue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14630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446520" y="1600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FDE"/>
                </a:solidFill>
              </a:rPr>
              <a:t>R$137.04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2258568"/>
            <a:ext cx="2148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average order value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052560" y="14630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9281160" y="1600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FDE"/>
                </a:solidFill>
              </a:rPr>
              <a:t>93,358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9281160" y="2258568"/>
            <a:ext cx="2148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unique customers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238"/>
                </a:solidFill>
              </a:rPr>
              <a:t>What the data tells us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35661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77240" y="37490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Revenue peaks in November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572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Nov 2017 is the peak month at R$987,765.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383280" y="35661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3611880" y="37490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A few categories lead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3611880" y="4572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Top 3 categories bring about 26% of revenue.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217920" y="35661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446520" y="37490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Few customers return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446520" y="4572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Only 3.00% (2,801 of 93,358) order again.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9052560" y="35661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9281160" y="37490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Slow delivery hurts ratings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9281160" y="4572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22+ day orders average 3.06 vs 4.41 for 0-7 days.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peaks in November 2017, led by three categories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FDE"/>
                </a:solidFill>
              </a:rPr>
              <a:t>R$987,765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58568"/>
            <a:ext cx="2834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peak month: Nov 2017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3154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FDE"/>
                </a:solidFill>
              </a:rPr>
              <a:t>R$838K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813048"/>
            <a:ext cx="2834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revenue in Aug 2018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114800" y="1371600"/>
          <a:ext cx="74980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solidFill>
            <a:srgbClr val="E6EEFC"/>
          </a:solidFill>
          <a:ln w="12700">
            <a:solidFill>
              <a:srgbClr val="E6EEF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5440680"/>
            <a:ext cx="73152" cy="731520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" y="5440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8A"/>
                </a:solidFill>
              </a:rPr>
              <a:t>So what:  </a:t>
            </a:r>
            <a:pPr indent="0" marL="0">
              <a:buNone/>
            </a:pPr>
            <a:r>
              <a:rPr lang="en-US" sz="1500" dirty="0">
                <a:solidFill>
                  <a:srgbClr val="1B2238"/>
                </a:solidFill>
              </a:rPr>
              <a:t>Plan stock, delivery and campaigns before November. Revenue per order differs: health_beauty about R$143, watches_gifts about R$212, bed_bath_table about R$110 (calculated).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3% of customers order again, and most pay by credit card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37160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1"/>
          <p:cNvSpPr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solidFill>
            <a:srgbClr val="E6EEFC"/>
          </a:solidFill>
          <a:ln w="12700">
            <a:solidFill>
              <a:srgbClr val="E6EEFC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548640" y="5440680"/>
            <a:ext cx="73152" cy="731520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822960" y="5440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8A"/>
                </a:solidFill>
              </a:rPr>
              <a:t>So what:  </a:t>
            </a:r>
            <a:pPr indent="0" marL="0">
              <a:buNone/>
            </a:pPr>
            <a:r>
              <a:rPr lang="en-US" sz="1500" dirty="0">
                <a:solidFill>
                  <a:srgbClr val="1B2238"/>
                </a:solidFill>
              </a:rPr>
              <a:t>97% buy only once, so loyalty offers can add revenue. Credit card carries 78% of payment value; boleto is a Brazilian bank-slip payment.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Ratings drop sharply after 21 days of delivery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1323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7955280" y="1463040"/>
            <a:ext cx="3657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8183880" y="16002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FDE"/>
                </a:solidFill>
              </a:rPr>
              <a:t>3.06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8183880" y="2470709"/>
            <a:ext cx="320040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average rating for 22+ day deliveries (11,519 orders)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955280" y="3383280"/>
            <a:ext cx="3657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183880" y="35204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FDE"/>
                </a:solidFill>
              </a:rPr>
              <a:t>4.41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8183880" y="4390949"/>
            <a:ext cx="320040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268"/>
                </a:solidFill>
              </a:rPr>
              <a:t>average rating for 0-7 day deliveries (30,679 orders)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solidFill>
            <a:srgbClr val="E6EEFC"/>
          </a:solidFill>
          <a:ln w="12700">
            <a:solidFill>
              <a:srgbClr val="E6EEF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5440680"/>
            <a:ext cx="73152" cy="731520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" y="5440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8A"/>
                </a:solidFill>
              </a:rPr>
              <a:t>So what:  </a:t>
            </a:r>
            <a:pPr indent="0" marL="0">
              <a:buNone/>
            </a:pPr>
            <a:r>
              <a:rPr lang="en-US" sz="1500" dirty="0">
                <a:solidFill>
                  <a:srgbClr val="1B2238"/>
                </a:solidFill>
              </a:rPr>
              <a:t>Ratings fall by about 1.35 points for the slowest deliveries. Late delivery may not be the only cause, but faster delivery is a clear lever to test.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 dominates sales, and office furniture rates lowest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238"/>
                </a:solidFill>
              </a:rPr>
              <a:t>Lowest-rated categories (100+ orders)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965960"/>
          <a:ext cx="52120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Orders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Avg review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8"/>
                          </a:solidFill>
                        </a:rPr>
                        <a:t>office_furniture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238"/>
                          </a:solidFill>
                        </a:rPr>
                        <a:t>1,244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2238"/>
                          </a:solidFill>
                        </a:rPr>
                        <a:t>3.52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8"/>
                          </a:solidFill>
                        </a:rPr>
                        <a:t>fixed_telephony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238"/>
                          </a:solidFill>
                        </a:rPr>
                        <a:t>209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2238"/>
                          </a:solidFill>
                        </a:rPr>
                        <a:t>3.76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8"/>
                          </a:solidFill>
                        </a:rPr>
                        <a:t>fashion_male_clothing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238"/>
                          </a:solidFill>
                        </a:rPr>
                        <a:t>105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2238"/>
                          </a:solidFill>
                        </a:rPr>
                        <a:t>3.76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8"/>
                          </a:solidFill>
                        </a:rPr>
                        <a:t>audio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238"/>
                          </a:solidFill>
                        </a:rPr>
                        <a:t>345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2238"/>
                          </a:solidFill>
                        </a:rPr>
                        <a:t>3.83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8"/>
                          </a:solidFill>
                        </a:rPr>
                        <a:t>home_confort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238"/>
                          </a:solidFill>
                        </a:rPr>
                        <a:t>390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2238"/>
                          </a:solidFill>
                        </a:rPr>
                        <a:t>3.85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solidFill>
            <a:srgbClr val="E6EEFC"/>
          </a:solidFill>
          <a:ln w="12700">
            <a:solidFill>
              <a:srgbClr val="E6EEFC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548640" y="5440680"/>
            <a:ext cx="73152" cy="731520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822960" y="5440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8A"/>
                </a:solidFill>
              </a:rPr>
              <a:t>So what:  </a:t>
            </a:r>
            <a:pPr indent="0" marL="0">
              <a:buNone/>
            </a:pPr>
            <a:r>
              <a:rPr lang="en-US" sz="1500" dirty="0">
                <a:solidFill>
                  <a:srgbClr val="1B2238"/>
                </a:solidFill>
              </a:rPr>
              <a:t>About 38% of revenue comes from SP, so delivery there matters most. office_furniture has the lowest rating (3.52) with 1,244 orders, so check why customers are unhappy.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page 1: Sales Overview</a:t>
            </a:r>
            <a:endParaRPr lang="en-US" sz="3000" dirty="0"/>
          </a:p>
        </p:txBody>
      </p:sp>
      <p:pic>
        <p:nvPicPr>
          <p:cNvPr id="4" name="Image 0" descr="/home/claude/deck/img/p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315200" cy="4034544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pic>
      <p:sp>
        <p:nvSpPr>
          <p:cNvPr id="5" name="Shape 1"/>
          <p:cNvSpPr/>
          <p:nvPr/>
        </p:nvSpPr>
        <p:spPr>
          <a:xfrm>
            <a:off x="8138160" y="1463040"/>
            <a:ext cx="3474720" cy="4032504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836676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What it shows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8366760" y="21031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KPI cards: 96,478 orders, R$13,221,498 revenue, AOV 137.04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Year slicer filters every chart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Top 10 categories by revenue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Monthly revenue trend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8366760" y="4206240"/>
            <a:ext cx="3017520" cy="18288"/>
          </a:xfrm>
          <a:prstGeom prst="rect">
            <a:avLst/>
          </a:prstGeom>
          <a:solidFill>
            <a:srgbClr val="E3E6EC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66760" y="4343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8A"/>
                </a:solidFill>
              </a:rPr>
              <a:t>Insight: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Revenue grew through 2017 and peaked in Nov 2017.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page 2: Customers and Delivery</a:t>
            </a:r>
            <a:endParaRPr lang="en-US" sz="3000" dirty="0"/>
          </a:p>
        </p:txBody>
      </p:sp>
      <p:pic>
        <p:nvPicPr>
          <p:cNvPr id="4" name="Image 0" descr="/home/claude/deck/img/p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315200" cy="4034544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pic>
      <p:sp>
        <p:nvSpPr>
          <p:cNvPr id="5" name="Shape 1"/>
          <p:cNvSpPr/>
          <p:nvPr/>
        </p:nvSpPr>
        <p:spPr>
          <a:xfrm>
            <a:off x="8138160" y="1463040"/>
            <a:ext cx="3474720" cy="4032504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836676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What it shows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8366760" y="21031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Unique customers 93,358 and repeat customers 2,801 (3.00%)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Payment type share: credit card leads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Delivery time vs average review score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8366760" y="4206240"/>
            <a:ext cx="3017520" cy="18288"/>
          </a:xfrm>
          <a:prstGeom prst="rect">
            <a:avLst/>
          </a:prstGeom>
          <a:solidFill>
            <a:srgbClr val="E3E6EC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66760" y="4343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8A"/>
                </a:solidFill>
              </a:rPr>
              <a:t>Insight: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Ratings fall to about 3.1 for deliveries that take 22+ days.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business should do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49377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" y="14630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8"/>
                </a:solidFill>
              </a:rPr>
              <a:t>Nov 2017 is the peak month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14630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6FDE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126480" y="14630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55080" y="14630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Plan stock, delivery and campaigns before November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49377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" y="23774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8"/>
                </a:solidFill>
              </a:rPr>
              <a:t>Top 3 categories bring about 26% of revenue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23774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6FDE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6126480" y="23774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55080" y="23774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Stock and promote best sellers; review weak ones like office_furniture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3291840"/>
            <a:ext cx="49377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77240" y="32918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8"/>
                </a:solidFill>
              </a:rPr>
              <a:t>Only 3.00% of customers reorder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0" y="32918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6FDE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6126480" y="32918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55080" y="32918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Run loyalty offers and win-back campaigns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4206240"/>
            <a:ext cx="49377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77240" y="42062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8"/>
                </a:solidFill>
              </a:rPr>
              <a:t>SP brings about 38% of revenue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0" y="42062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6FDE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6126480" y="42062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55080" y="42062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Protect SP delivery; grow RJ and MG with campaigns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8640" y="5120640"/>
            <a:ext cx="49377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77240" y="51206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8"/>
                </a:solidFill>
              </a:rPr>
              <a:t>Orders over 21 days rate 3.06 vs 4.41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0" y="51206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6FDE"/>
                </a:solidFill>
              </a:rPr>
              <a:t>→</a:t>
            </a:r>
            <a:endParaRPr lang="en-US" sz="2400" dirty="0"/>
          </a:p>
        </p:txBody>
      </p:sp>
      <p:sp>
        <p:nvSpPr>
          <p:cNvPr id="27" name="Shape 24"/>
          <p:cNvSpPr/>
          <p:nvPr/>
        </p:nvSpPr>
        <p:spPr>
          <a:xfrm>
            <a:off x="6126480" y="51206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55080" y="51206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Cut slow deliveries and set realistic delivery promises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0352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2296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3A8A"/>
                </a:solidFill>
              </a:rPr>
              <a:t>Limitations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37744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238"/>
                </a:solidFill>
              </a:rPr>
              <a:t>Data covers Sep 2016 to Oct 2018 and one marketplace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238"/>
                </a:solidFill>
              </a:rPr>
              <a:t>Revenue is product price only: no profit or discount data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238"/>
                </a:solidFill>
              </a:rPr>
              <a:t>Findings show association, not cause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309360" y="1554480"/>
            <a:ext cx="530352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58368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6FDE"/>
                </a:solidFill>
              </a:rPr>
              <a:t>Next steps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237744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238"/>
                </a:solidFill>
              </a:rPr>
              <a:t>Analyse delivery delay by state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238"/>
                </a:solidFill>
              </a:rPr>
              <a:t>Segment customers with RFM analysis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238"/>
                </a:solidFill>
              </a:rPr>
              <a:t>Repeat the analysis on an Indian e-commerce dataset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490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Archana H  |  Data Analytics  |  MySQL · Power BI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github.com/archanaarchanah0812-lgtm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list Blue">
  <a:themeElements>
    <a:clrScheme name="Olist Blue">
      <a:dk1>
        <a:srgbClr val="1B2238"/>
      </a:dk1>
      <a:lt1>
        <a:srgbClr val="FFFFFF"/>
      </a:lt1>
      <a:dk2>
        <a:srgbClr val="16213A"/>
      </a:dk2>
      <a:lt2>
        <a:srgbClr val="F3F5FA"/>
      </a:lt2>
      <a:accent1>
        <a:srgbClr val="2F6FDE"/>
      </a:accent1>
      <a:accent2>
        <a:srgbClr val="5B9BF0"/>
      </a:accent2>
      <a:accent3>
        <a:srgbClr val="1B3A8A"/>
      </a:accent3>
      <a:accent4>
        <a:srgbClr val="9CC3F7"/>
      </a:accent4>
      <a:accent5>
        <a:srgbClr val="8D99AE"/>
      </a:accent5>
      <a:accent6>
        <a:srgbClr val="3B4F7A"/>
      </a:accent6>
      <a:hlink>
        <a:srgbClr val="2F6FDE"/>
      </a:hlink>
      <a:folHlink>
        <a:srgbClr val="8D99AE"/>
      </a:folHlink>
    </a:clrScheme>
    <a:fontScheme name="Olist Bl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and Customer Insights</dc:title>
  <dc:subject>PptxGenJS Presentation</dc:subject>
  <dc:creator>Archana H</dc:creator>
  <cp:lastModifiedBy>Archana H</cp:lastModifiedBy>
  <cp:revision>1</cp:revision>
  <dcterms:created xsi:type="dcterms:W3CDTF">2026-10-31T03:03:29Z</dcterms:created>
  <dcterms:modified xsi:type="dcterms:W3CDTF">2026-10-31T03:03:29Z</dcterms:modified>
</cp:coreProperties>
</file>