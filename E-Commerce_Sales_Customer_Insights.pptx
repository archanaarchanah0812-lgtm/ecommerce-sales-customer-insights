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60959A4-62A8-15D7-9314-87F9A22D88DB}">
          <p14:sldIdLst>
            <p14:sldId id="256"/>
            <p14:sldId id="257"/>
            <p14:sldId id="258"/>
          </p14:sldIdLst>
        </p14:section>
        <p14:section name="Findings" id="{E5C5F7EE-C5B3-A697-23C7-017EF53A70F4}">
          <p14:sldIdLst>
            <p14:sldId id="259"/>
            <p14:sldId id="260"/>
            <p14:sldId id="261"/>
            <p14:sldId id="262"/>
            <p14:sldId id="263"/>
          </p14:sldIdLst>
        </p14:section>
        <p14:section name="Actions" id="{9F881AD7-B1EC-A6C0-0EA5-A4D4FD3FC92B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5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1B2238"/>
                </a:solidFill>
                <a:latin typeface="+mn-lt"/>
              </a:rPr>
              <a:t>Top 3 categories by revenue (R$ million)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(R$ million)</c:v>
                </c:pt>
              </c:strCache>
            </c:strRef>
          </c:tx>
          <c:spPr>
            <a:solidFill>
              <a:srgbClr val="E8743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238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health_beauty</c:v>
                </c:pt>
                <c:pt idx="1">
                  <c:v>watches_gifts</c:v>
                </c:pt>
                <c:pt idx="2">
                  <c:v>bed_bath_table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1.23</c:v>
                </c:pt>
                <c:pt idx="1">
                  <c:v>1.17</c:v>
                </c:pt>
                <c:pt idx="2">
                  <c:v>1.02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F9-40B3-A2BA-2076B8D3EC3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5"/>
          <c:min val="0"/>
        </c:scaling>
        <c:delete val="0"/>
        <c:axPos val="t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1B2238"/>
                </a:solidFill>
                <a:latin typeface="+mn-lt"/>
              </a:rPr>
              <a:t>Customers by number of orders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D99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A42-4255-A179-2C2C1F58E47B}"/>
              </c:ext>
            </c:extLst>
          </c:dPt>
          <c:dPt>
            <c:idx val="1"/>
            <c:bubble3D val="0"/>
            <c:spPr>
              <a:solidFill>
                <a:srgbClr val="E874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A42-4255-A179-2C2C1F58E47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A42-4255-A179-2C2C1F58E47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42-4255-A179-2C2C1F58E47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One-time buyers</c:v>
                </c:pt>
                <c:pt idx="1">
                  <c:v>Repeat buyers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90557</c:v>
                </c:pt>
                <c:pt idx="1">
                  <c:v>2801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A42-4255-A179-2C2C1F58E4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A52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lang="en-IN" sz="1400" b="0" i="0" u="none" strike="noStrike">
                <a:solidFill>
                  <a:srgbClr val="1B2238"/>
                </a:solidFill>
                <a:latin typeface="+mn-lt"/>
              </a:rPr>
              <a:t>Share of payment value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payment value (%)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238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credit_card</c:v>
                </c:pt>
                <c:pt idx="1">
                  <c:v>boleto</c:v>
                </c:pt>
                <c:pt idx="2">
                  <c:v>voucher</c:v>
                </c:pt>
                <c:pt idx="3">
                  <c:v>debit_card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78.34</c:v>
                </c:pt>
                <c:pt idx="1">
                  <c:v>17.920000000000002</c:v>
                </c:pt>
                <c:pt idx="2">
                  <c:v>2.37</c:v>
                </c:pt>
                <c:pt idx="3">
                  <c:v>1.36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77-461A-A52F-73D9DA5C5B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1B2238"/>
                </a:solidFill>
                <a:latin typeface="+mn-lt"/>
              </a:rPr>
              <a:t>Average review score by delivery time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review score</c:v>
                </c:pt>
              </c:strCache>
            </c:strRef>
          </c:tx>
          <c:spPr>
            <a:solidFill>
              <a:srgbClr val="E8743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238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0-7 days</c:v>
                </c:pt>
                <c:pt idx="1">
                  <c:v>8-14 days</c:v>
                </c:pt>
                <c:pt idx="2">
                  <c:v>15-21 days</c:v>
                </c:pt>
                <c:pt idx="3">
                  <c:v>22+ days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4.41</c:v>
                </c:pt>
                <c:pt idx="1">
                  <c:v>4.3</c:v>
                </c:pt>
                <c:pt idx="2">
                  <c:v>4.12</c:v>
                </c:pt>
                <c:pt idx="3">
                  <c:v>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E2-4FBC-A3E1-8C9620D045B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1B2238"/>
                </a:solidFill>
                <a:latin typeface="+mn-lt"/>
              </a:rPr>
              <a:t>Top 3 states by revenue (R$ million)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(R$ million)</c:v>
                </c:pt>
              </c:strCache>
            </c:strRef>
          </c:tx>
          <c:spPr>
            <a:solidFill>
              <a:srgbClr val="3C5A99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238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SP</c:v>
                </c:pt>
                <c:pt idx="1">
                  <c:v>RJ</c:v>
                </c:pt>
                <c:pt idx="2">
                  <c:v>MG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5.07</c:v>
                </c:pt>
                <c:pt idx="1">
                  <c:v>1.76</c:v>
                </c:pt>
                <c:pt idx="2">
                  <c:v>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A8-4D38-BE49-E0C0A05C62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97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full analytics workflow from raw e-commerce data to business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 in plain words. Three questions guide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data, the steps you followed, and the questions the project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headline numbers first, then the four findings that the next slides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month is Nov 2017. Black Friday may explain it, but the data does not prove the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rate uses customer_unique_id, because customer_id changes with every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time is linked to ratings. This shows association, not proof of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 alone brings about 38% of revenue (R$5.07M of R$13.22M, calculated). Low rating reasons need further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links a finding to a decision a real business would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both dashboard pages and point to the chart behind each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limits; it builds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3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E-Commerce Sales and Customer Insights  |  Archana 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40080"/>
            <a:ext cx="822960" cy="822960"/>
          </a:xfrm>
          <a:prstGeom prst="ellipse">
            <a:avLst/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68680" y="960120"/>
            <a:ext cx="1463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88136" y="777240"/>
            <a:ext cx="146304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307592" y="594360"/>
            <a:ext cx="14630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182880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743B"/>
                </a:solidFill>
              </a:rPr>
              <a:t>DATA ANALYTICS PROJECT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Sales and Customer Insights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49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SQL and Power BI analysis of 96,478 delivered orders from a Brazilian online marketplace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Archana H  |  Data Analytics  |  MySQL · Power BI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revenue come from, and where does it leak?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737360"/>
            <a:ext cx="3502152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777240" y="192024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Which products and categories drive revenue?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17520"/>
            <a:ext cx="3044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Top sellers, revenue share and customer ratings by category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325112" y="1737360"/>
            <a:ext cx="3502152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4553712" y="192024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Who buys, and do they come back?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553712" y="3017520"/>
            <a:ext cx="3044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New vs repeat buyers, order value and payment habits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53712" y="4023360"/>
            <a:ext cx="457200" cy="457200"/>
          </a:xfrm>
          <a:prstGeom prst="ellipse">
            <a:avLst/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 txBox="1"/>
          <p:nvPr/>
        </p:nvSpPr>
        <p:spPr>
          <a:xfrm>
            <a:off x="4553712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8101584" y="1737360"/>
            <a:ext cx="3502152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 txBox="1"/>
          <p:nvPr/>
        </p:nvSpPr>
        <p:spPr>
          <a:xfrm>
            <a:off x="8330184" y="192024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How does delivery affect satisfaction?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330184" y="3017520"/>
            <a:ext cx="3044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Delivery time, review scores and regional sales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330184" y="4023360"/>
            <a:ext cx="457200" cy="457200"/>
          </a:xfrm>
          <a:prstGeom prst="ellipse">
            <a:avLst/>
          </a:prstGeom>
          <a:solidFill>
            <a:srgbClr val="E8743B"/>
          </a:solidFill>
          <a:ln w="12700">
            <a:solidFill>
              <a:srgbClr val="E874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833018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120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Built for store owners, marketing teams and operations teams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is about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02152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777240" y="16459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The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Olist, a Brazilian online marketplace. 9 related tables: orders, items, payments, reviews, customers, products, sellers. 99,441 orders, Sep 2016 to Oct 2018.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325112" y="1463040"/>
            <a:ext cx="3502152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4553712" y="16459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What I did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210312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Loaded the CSV files into MySQL, cleaned dates and blank values, wrote 8 SQL queries, and built a 2-page Power BI dashboard.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101584" y="1463040"/>
            <a:ext cx="3502152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 txBox="1"/>
          <p:nvPr/>
        </p:nvSpPr>
        <p:spPr>
          <a:xfrm>
            <a:off x="8330184" y="164592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What it answers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330184" y="210312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Where revenue comes from, how many customers buy again, and how delivery speed affects review ratings.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238"/>
                </a:solidFill>
              </a:rPr>
              <a:t>How the tables connect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916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 txBox="1"/>
          <p:nvPr/>
        </p:nvSpPr>
        <p:spPr>
          <a:xfrm>
            <a:off x="548640" y="4709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customers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4709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3474720" y="470916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3474720" y="4709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orders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4709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6400800" y="470916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 txBox="1"/>
          <p:nvPr/>
        </p:nvSpPr>
        <p:spPr>
          <a:xfrm>
            <a:off x="6400800" y="4709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order_items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95360" y="4709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9326880" y="470916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 txBox="1"/>
          <p:nvPr/>
        </p:nvSpPr>
        <p:spPr>
          <a:xfrm>
            <a:off x="9326880" y="4709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products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Analysis uses delivered orders only. Revenue means product price; the dataset has no discount or profit data.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at a glance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54864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77724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96,478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174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delivered orders</a:t>
            </a:r>
            <a:endParaRPr lang="en-US" sz="1400" dirty="0"/>
          </a:p>
        </p:txBody>
      </p:sp>
      <p:sp>
        <p:nvSpPr>
          <p:cNvPr id="7" name="Stat"/>
          <p:cNvSpPr/>
          <p:nvPr/>
        </p:nvSpPr>
        <p:spPr>
          <a:xfrm>
            <a:off x="338328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361188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R$13.22M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22174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total revenue</a:t>
            </a:r>
            <a:endParaRPr lang="en-US" sz="1400" dirty="0"/>
          </a:p>
        </p:txBody>
      </p:sp>
      <p:sp>
        <p:nvSpPr>
          <p:cNvPr id="10" name="Stat"/>
          <p:cNvSpPr/>
          <p:nvPr/>
        </p:nvSpPr>
        <p:spPr>
          <a:xfrm>
            <a:off x="621792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 txBox="1"/>
          <p:nvPr/>
        </p:nvSpPr>
        <p:spPr>
          <a:xfrm>
            <a:off x="644652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R$137.04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2174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average order value</a:t>
            </a:r>
            <a:endParaRPr lang="en-US" sz="1400" dirty="0"/>
          </a:p>
        </p:txBody>
      </p:sp>
      <p:sp>
        <p:nvSpPr>
          <p:cNvPr id="13" name="Stat"/>
          <p:cNvSpPr/>
          <p:nvPr/>
        </p:nvSpPr>
        <p:spPr>
          <a:xfrm>
            <a:off x="9052560" y="14630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 txBox="1"/>
          <p:nvPr/>
        </p:nvSpPr>
        <p:spPr>
          <a:xfrm>
            <a:off x="928116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93,358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22174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unique customers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238"/>
                </a:solidFill>
              </a:rPr>
              <a:t>What the data tells us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548640" y="35661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777240" y="37490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Revenue peaks in November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5720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Nov 2017 is the peak month at R$987,765.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3383280" y="35661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 txBox="1"/>
          <p:nvPr/>
        </p:nvSpPr>
        <p:spPr>
          <a:xfrm>
            <a:off x="3611880" y="37490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A few categories lead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611880" y="45720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Top 3 categories bring about 26% of revenue.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6217920" y="35661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 txBox="1"/>
          <p:nvPr/>
        </p:nvSpPr>
        <p:spPr>
          <a:xfrm>
            <a:off x="6446520" y="37490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Few customers return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45720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Only 3.00% (2,801 of 93,358) order again.</a:t>
            </a:r>
            <a:endParaRPr lang="en-US" sz="1400" dirty="0"/>
          </a:p>
        </p:txBody>
      </p:sp>
      <p:sp>
        <p:nvSpPr>
          <p:cNvPr id="26" name="Card"/>
          <p:cNvSpPr/>
          <p:nvPr/>
        </p:nvSpPr>
        <p:spPr>
          <a:xfrm>
            <a:off x="9052560" y="35661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 txBox="1"/>
          <p:nvPr/>
        </p:nvSpPr>
        <p:spPr>
          <a:xfrm>
            <a:off x="9281160" y="37490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Slow delivery hurts ratings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281160" y="45720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22+ day orders average 3.06 vs 4.41 for 0-7 days.</a:t>
            </a:r>
            <a:endParaRPr lang="en-US" sz="1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peaks in November 2017, led by three categories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548640" y="146304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777240" y="16002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R$987,765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31800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peak month: Nov 2017</a:t>
            </a:r>
            <a:endParaRPr lang="en-US" sz="1400" dirty="0"/>
          </a:p>
        </p:txBody>
      </p:sp>
      <p:sp>
        <p:nvSpPr>
          <p:cNvPr id="7" name="Stat"/>
          <p:cNvSpPr/>
          <p:nvPr/>
        </p:nvSpPr>
        <p:spPr>
          <a:xfrm>
            <a:off x="548640" y="324612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777240" y="33832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R$838K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10108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revenue in Aug 2018</a:t>
            </a:r>
            <a:endParaRPr lang="en-US" sz="14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114800" y="13716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Revenue per order: health_beauty about R$143, watches_gifts about R$212, bed_bath_table about R$110 (calculated).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3% of customers order again, and most pay by credit card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371600"/>
          <a:ext cx="53035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309360" y="1371600"/>
          <a:ext cx="53035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Boleto is a Brazilian bank-slip payment, similar to paying in cash.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Ratings drop sharply after 21 days of delivery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371600"/>
          <a:ext cx="71323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tat"/>
          <p:cNvSpPr/>
          <p:nvPr/>
        </p:nvSpPr>
        <p:spPr>
          <a:xfrm>
            <a:off x="7955280" y="14630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2"/>
          <p:cNvSpPr txBox="1"/>
          <p:nvPr/>
        </p:nvSpPr>
        <p:spPr>
          <a:xfrm>
            <a:off x="8183880" y="16002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3.06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183880" y="256946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average rating for 22+ day deliveries (11,519 orders)</a:t>
            </a:r>
            <a:endParaRPr lang="en-US" sz="1400" dirty="0"/>
          </a:p>
        </p:txBody>
      </p:sp>
      <p:sp>
        <p:nvSpPr>
          <p:cNvPr id="8" name="Stat"/>
          <p:cNvSpPr/>
          <p:nvPr/>
        </p:nvSpPr>
        <p:spPr>
          <a:xfrm>
            <a:off x="7955280" y="37490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5"/>
          <p:cNvSpPr txBox="1"/>
          <p:nvPr/>
        </p:nvSpPr>
        <p:spPr>
          <a:xfrm>
            <a:off x="8183880" y="38862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</a:rPr>
              <a:t>4.41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485546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average rating for 0-7 day deliveries (30,679 orders)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Late delivery is linked to lower ratings; this analysis does not prove it is the cause.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 dominates sales, and office furniture rates lowest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371600"/>
          <a:ext cx="54864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238"/>
                </a:solidFill>
              </a:rPr>
              <a:t>Lowest-rated categories (100+ orders)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12080" cy="30175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Orders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Avg review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office_furniture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1,244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238"/>
                          </a:solidFill>
                        </a:rPr>
                        <a:t>3.52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fixed_telephony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209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238"/>
                          </a:solidFill>
                        </a:rPr>
                        <a:t>3.76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fashion_male_clothing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105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238"/>
                          </a:solidFill>
                        </a:rPr>
                        <a:t>3.76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audio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345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238"/>
                          </a:solidFill>
                        </a:rPr>
                        <a:t>3.83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home_confort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238"/>
                          </a:solidFill>
                        </a:rPr>
                        <a:t>390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238"/>
                          </a:solidFill>
                        </a:rPr>
                        <a:t>3.85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268"/>
                </a:solidFill>
              </a:rPr>
              <a:t>SP alone brings about 38% of revenue (calculated from R$5.07M of R$13.22M).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business should do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777240" y="14630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238"/>
                </a:solidFill>
              </a:rPr>
              <a:t>Nov 2017 is the peak month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4630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126480" y="1463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6355080" y="14630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Plan stock, delivery and campaigns before November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777240" y="2377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238"/>
                </a:solidFill>
              </a:rPr>
              <a:t>Top 3 categories bring about 26% of revenue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3774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26480" y="2377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 txBox="1"/>
          <p:nvPr/>
        </p:nvSpPr>
        <p:spPr>
          <a:xfrm>
            <a:off x="6355080" y="23774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Stock and promote best sellers; review weak ones like office_furniture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 txBox="1"/>
          <p:nvPr/>
        </p:nvSpPr>
        <p:spPr>
          <a:xfrm>
            <a:off x="77724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238"/>
                </a:solidFill>
              </a:rPr>
              <a:t>Only 3.00% of customers reorder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3291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 txBox="1"/>
          <p:nvPr/>
        </p:nvSpPr>
        <p:spPr>
          <a:xfrm>
            <a:off x="6355080" y="32918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Run loyalty offers and win-back campaigns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2062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 txBox="1"/>
          <p:nvPr/>
        </p:nvSpPr>
        <p:spPr>
          <a:xfrm>
            <a:off x="777240" y="4206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238"/>
                </a:solidFill>
              </a:rPr>
              <a:t>SP brings about 38% of revenue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0" y="42062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6126480" y="4206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 txBox="1"/>
          <p:nvPr/>
        </p:nvSpPr>
        <p:spPr>
          <a:xfrm>
            <a:off x="6355080" y="4206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Protect SP delivery; grow RJ and MG with campaigns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 txBox="1"/>
          <p:nvPr/>
        </p:nvSpPr>
        <p:spPr>
          <a:xfrm>
            <a:off x="777240" y="51206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238"/>
                </a:solidFill>
              </a:rPr>
              <a:t>Orders over 21 days rate 3.06 vs 4.41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0" y="51206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743B"/>
                </a:solidFill>
              </a:rPr>
              <a:t>→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126480" y="5120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 txBox="1"/>
          <p:nvPr/>
        </p:nvSpPr>
        <p:spPr>
          <a:xfrm>
            <a:off x="6355080" y="5120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Cut slow deliveries and set realistic delivery promises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Power BI dashboard</a:t>
            </a:r>
            <a:endParaRPr lang="en-US" sz="3000" dirty="0"/>
          </a:p>
        </p:txBody>
      </p:sp>
      <p:sp>
        <p:nvSpPr>
          <p:cNvPr id="4" name="Screenshot frame 1"/>
          <p:cNvSpPr/>
          <p:nvPr/>
        </p:nvSpPr>
        <p:spPr>
          <a:xfrm>
            <a:off x="548640" y="1463040"/>
            <a:ext cx="5303520" cy="2980944"/>
          </a:xfrm>
          <a:prstGeom prst="rect">
            <a:avLst/>
          </a:prstGeom>
          <a:solidFill>
            <a:srgbClr val="FFFFFF"/>
          </a:solidFill>
          <a:ln w="19050">
            <a:solidFill>
              <a:srgbClr val="8D99AE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54864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Page 1: Sales Overview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KPI cards, monthly revenue, top categories, year slicer</a:t>
            </a:r>
            <a:endParaRPr lang="en-US" sz="1400" dirty="0"/>
          </a:p>
        </p:txBody>
      </p:sp>
      <p:sp>
        <p:nvSpPr>
          <p:cNvPr id="7" name="Screenshot frame 2"/>
          <p:cNvSpPr/>
          <p:nvPr/>
        </p:nvSpPr>
        <p:spPr>
          <a:xfrm>
            <a:off x="6309360" y="1463040"/>
            <a:ext cx="5303520" cy="2980944"/>
          </a:xfrm>
          <a:prstGeom prst="rect">
            <a:avLst/>
          </a:prstGeom>
          <a:solidFill>
            <a:srgbClr val="FFFFFF"/>
          </a:solidFill>
          <a:ln w="19050">
            <a:solidFill>
              <a:srgbClr val="8D99AE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630936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238"/>
                </a:solidFill>
              </a:rPr>
              <a:t>Page 2: Customers and Delivery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5074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268"/>
                </a:solidFill>
              </a:rPr>
              <a:t>Repeat customers, payment share, delivery time vs rating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E621C4-7CA4-9B97-5A75-08D27BF9D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791" y="1378778"/>
            <a:ext cx="5693850" cy="3140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8D447F-B9CF-7E61-E1C2-111EC05DB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369987"/>
            <a:ext cx="5693850" cy="31338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53035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 txBox="1"/>
          <p:nvPr/>
        </p:nvSpPr>
        <p:spPr>
          <a:xfrm>
            <a:off x="82296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743B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Data covers Sep 2016 to Oct 2018 and one marketplace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Revenue is product price only: no profit or discount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Findings show association, not cause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09360" y="1554480"/>
            <a:ext cx="53035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01600" dist="25400" dir="5400000" algn="bl" rotWithShape="0">
              <a:srgbClr val="16213A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 txBox="1"/>
          <p:nvPr/>
        </p:nvSpPr>
        <p:spPr>
          <a:xfrm>
            <a:off x="658368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9D8F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Analyse delivery delay by state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Segment customers with RFM analysis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38"/>
                </a:solidFill>
              </a:rPr>
              <a:t>Repeat the analysis on an Indian e-commerce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Archana H  |  Data Analytics  |  MySQL · Power BI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github.com/archanaarchanah0812-lgtm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list Insights">
  <a:themeElements>
    <a:clrScheme name="Olist Insights">
      <a:dk1>
        <a:srgbClr val="1B2238"/>
      </a:dk1>
      <a:lt1>
        <a:srgbClr val="FFFFFF"/>
      </a:lt1>
      <a:dk2>
        <a:srgbClr val="16213A"/>
      </a:dk2>
      <a:lt2>
        <a:srgbClr val="F3F5FA"/>
      </a:lt2>
      <a:accent1>
        <a:srgbClr val="E8743B"/>
      </a:accent1>
      <a:accent2>
        <a:srgbClr val="2A9D8F"/>
      </a:accent2>
      <a:accent3>
        <a:srgbClr val="3C5A99"/>
      </a:accent3>
      <a:accent4>
        <a:srgbClr val="F2B84B"/>
      </a:accent4>
      <a:accent5>
        <a:srgbClr val="8D99AE"/>
      </a:accent5>
      <a:accent6>
        <a:srgbClr val="C44536"/>
      </a:accent6>
      <a:hlink>
        <a:srgbClr val="3C5A99"/>
      </a:hlink>
      <a:folHlink>
        <a:srgbClr val="8D99AE"/>
      </a:folHlink>
    </a:clrScheme>
    <a:fontScheme name="Olist Insight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953</Words>
  <Application>Microsoft Office PowerPoint</Application>
  <PresentationFormat>Widescreen</PresentationFormat>
  <Paragraphs>158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Olist Insights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Sales and Customer Insights</dc:title>
  <dc:subject>PptxGenJS Presentation</dc:subject>
  <dc:creator>Archana H</dc:creator>
  <cp:lastModifiedBy>S0211574</cp:lastModifiedBy>
  <cp:revision>2</cp:revision>
  <dcterms:created xsi:type="dcterms:W3CDTF">2026-10-29T09:49:39Z</dcterms:created>
  <dcterms:modified xsi:type="dcterms:W3CDTF">2026-10-29T10:04:48Z</dcterms:modified>
</cp:coreProperties>
</file>